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4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07"/>
    <p:restoredTop sz="96405"/>
  </p:normalViewPr>
  <p:slideViewPr>
    <p:cSldViewPr snapToGrid="0" showGuides="1">
      <p:cViewPr>
        <p:scale>
          <a:sx n="217" d="100"/>
          <a:sy n="217" d="100"/>
        </p:scale>
        <p:origin x="744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D741-0FCC-708E-7AD1-1AD774ACB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FE87B-FE03-28DF-57D0-3D8671168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EDF58-ABF1-B03B-0692-ACF236E9B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1D280-75EF-7D0D-1AC7-A251548D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CC683-A299-1479-E476-E84B8454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B18D-9337-523C-F256-31AAF87D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7AAAA-D54B-2295-549A-EC5911725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272AC-DDB8-331E-A73E-EB828592A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E3478-68BC-18D6-DEA2-2E88941B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E6D95-C20C-8941-DF77-43DF9D6B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6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2A21-DF7E-D751-E234-5693D9DE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63211-0407-1EC1-2B00-92F93CF36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CED51-8AF7-64D9-B5E1-ADC9C01A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00EEB-5D05-BF4B-69CE-78D182F2F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4B9D9-383C-1AF9-E53B-CC439EA9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73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470B-A3D7-32A1-2A16-61ADDB5B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80B1B-A60B-1C96-C4B0-A9864B27D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0CE0D-B0AB-0123-382F-D4D6AEBC2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FE50E-F5E2-680D-B0B3-62062704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CC9EC-A4E7-27DC-27CE-46B07C1B5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25932-0418-59B9-4250-34FDC2A3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92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9C70-9142-3D3B-7ACE-D9BE8315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1E4B4-341D-7F96-8FFA-751F3F584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480C-2DE0-46AC-8808-E9F3575A8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C6ACC-E1EE-0B83-4011-FBC92CD26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617AAE-CA27-9227-3791-64DBEF1574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4FFF95-D741-928D-C16E-869514E3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B0401-7193-3030-2706-0E7918D27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4A7E0-8CC4-4112-5A5F-D18324AB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4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A9E3E-3E1E-B7C8-B214-9CD25C74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9051-2B7A-49F0-F1A9-C4040A82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8A813-CBDE-4116-1C5A-480D8B76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B518-082C-2B4F-9652-02595642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6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793AB-0DD3-9C4C-F839-50C9BCBF1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D266B-7BD4-E90E-85D5-767571EA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6707F-4A85-60B1-65A7-36B818BB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8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DD88-AE78-4273-373D-3A36271A4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BCF3-C275-0D57-699A-495A8B818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9005B-2384-45E1-5B49-4AC43E44C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4E63F-BB09-D776-1367-36A5E745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ECF15-D6EA-3F41-BDDB-B4F1E5F5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72DA4-CE1A-2041-23C7-442573E0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37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736F-BC1D-3AAA-8352-71F2A1DBF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FA2731-4858-0806-E3FB-8B2AFCF57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1F6C6-B72C-1F1A-94AD-E6E16554E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14FAB-AA51-66C5-A8C2-879F9EBF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12896-76E2-879A-F12F-25EB9B45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6D0AB-2AC7-BB3E-92C5-8BC7ADCF9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5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25891-D6C3-C7F4-03F4-66527105C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3BAF8-9C90-65A8-E9BE-48EA17377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2F7F7-EBCA-1913-C9E2-86510261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84A9F-2E5B-B761-4F46-F416BD1D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856A7-FBA6-F71C-839D-B2961BD4D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0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C0B4C-8B8A-79AE-86E1-A821C1C60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0708E-DFF6-CBB6-FF95-26D0D97DE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9F95C-7775-1A4F-848C-DCE6FEF9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99551-F992-541F-FD2C-EC591E1B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7C801-C47B-F4DC-7A83-389DB0CC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2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763390-D49A-C536-1F73-BA459C97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96EDE-E12F-5345-79E1-296AD82DF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DECAD-2A0E-E0B1-60F7-3762F5B24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64210-81AF-024C-9BFA-EFF5FB3A7769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92E0B-0F78-3FD9-DDC9-56F9810B6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59277-E855-EE2F-CB2A-622FAAA33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D2893-B67D-1F48-A7D1-CB97C7C67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8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6F835-1E3F-7B03-4343-DE5997E17921}"/>
              </a:ext>
            </a:extLst>
          </p:cNvPr>
          <p:cNvSpPr/>
          <p:nvPr/>
        </p:nvSpPr>
        <p:spPr>
          <a:xfrm>
            <a:off x="6523893" y="2362201"/>
            <a:ext cx="4038600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4B0BB-D6E6-12A9-E48B-3FC4A05394FC}"/>
              </a:ext>
            </a:extLst>
          </p:cNvPr>
          <p:cNvSpPr/>
          <p:nvPr/>
        </p:nvSpPr>
        <p:spPr>
          <a:xfrm>
            <a:off x="6523893" y="679939"/>
            <a:ext cx="4038600" cy="1289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Services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F13320-B15F-67C8-D337-2D427446B5DB}"/>
              </a:ext>
            </a:extLst>
          </p:cNvPr>
          <p:cNvSpPr/>
          <p:nvPr/>
        </p:nvSpPr>
        <p:spPr>
          <a:xfrm rot="10800000" flipV="1">
            <a:off x="1600200" y="2362201"/>
            <a:ext cx="4120662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Consulting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600199" y="679939"/>
            <a:ext cx="4120661" cy="1289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Business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2ACBE-2EC3-5BF9-53B5-501C961AE27E}"/>
              </a:ext>
            </a:extLst>
          </p:cNvPr>
          <p:cNvSpPr/>
          <p:nvPr/>
        </p:nvSpPr>
        <p:spPr>
          <a:xfrm rot="10800000" flipV="1">
            <a:off x="1600198" y="4114803"/>
            <a:ext cx="4120661" cy="1289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Business Profile</a:t>
            </a:r>
          </a:p>
        </p:txBody>
      </p:sp>
    </p:spTree>
    <p:extLst>
      <p:ext uri="{BB962C8B-B14F-4D97-AF65-F5344CB8AC3E}">
        <p14:creationId xmlns:p14="http://schemas.microsoft.com/office/powerpoint/2010/main" val="398471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6F835-1E3F-7B03-4343-DE5997E17921}"/>
              </a:ext>
            </a:extLst>
          </p:cNvPr>
          <p:cNvSpPr/>
          <p:nvPr/>
        </p:nvSpPr>
        <p:spPr>
          <a:xfrm>
            <a:off x="3382107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119553" y="563442"/>
            <a:ext cx="7379677" cy="527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Service Business (Plumbing, Acct, Doctor, Lawyer, Beauty/Care, Auto,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E146D-28B5-7A61-1079-36ECB6194FB5}"/>
              </a:ext>
            </a:extLst>
          </p:cNvPr>
          <p:cNvSpPr/>
          <p:nvPr/>
        </p:nvSpPr>
        <p:spPr>
          <a:xfrm>
            <a:off x="5615353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FB751-155B-2D15-9102-721138E2238B}"/>
              </a:ext>
            </a:extLst>
          </p:cNvPr>
          <p:cNvSpPr/>
          <p:nvPr/>
        </p:nvSpPr>
        <p:spPr>
          <a:xfrm>
            <a:off x="7719646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92625-7A90-F2AF-DB3A-597A059F5050}"/>
              </a:ext>
            </a:extLst>
          </p:cNvPr>
          <p:cNvSpPr/>
          <p:nvPr/>
        </p:nvSpPr>
        <p:spPr>
          <a:xfrm>
            <a:off x="9982198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Billing &amp; Payable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BA7CC-B593-A318-535B-974951DFBFF2}"/>
              </a:ext>
            </a:extLst>
          </p:cNvPr>
          <p:cNvSpPr/>
          <p:nvPr/>
        </p:nvSpPr>
        <p:spPr>
          <a:xfrm>
            <a:off x="3686905" y="3323493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Sales Meetings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2E546-BCDF-550C-4C5F-D8688C3A200C}"/>
              </a:ext>
            </a:extLst>
          </p:cNvPr>
          <p:cNvSpPr/>
          <p:nvPr/>
        </p:nvSpPr>
        <p:spPr>
          <a:xfrm>
            <a:off x="3686905" y="3827586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Proposals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46C0A-4131-09A0-1B0E-26711339E092}"/>
              </a:ext>
            </a:extLst>
          </p:cNvPr>
          <p:cNvSpPr/>
          <p:nvPr/>
        </p:nvSpPr>
        <p:spPr>
          <a:xfrm>
            <a:off x="3686904" y="433167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Orders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FC4D7-1B8D-A66E-9190-5EB11D425638}"/>
              </a:ext>
            </a:extLst>
          </p:cNvPr>
          <p:cNvSpPr/>
          <p:nvPr/>
        </p:nvSpPr>
        <p:spPr>
          <a:xfrm>
            <a:off x="5920152" y="289633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C830F-A76B-8F7D-E03A-E5E86A08F998}"/>
              </a:ext>
            </a:extLst>
          </p:cNvPr>
          <p:cNvSpPr/>
          <p:nvPr/>
        </p:nvSpPr>
        <p:spPr>
          <a:xfrm>
            <a:off x="5920152" y="340042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6406D-7BBF-AF84-82C8-DF1776FFF1A9}"/>
              </a:ext>
            </a:extLst>
          </p:cNvPr>
          <p:cNvSpPr/>
          <p:nvPr/>
        </p:nvSpPr>
        <p:spPr>
          <a:xfrm>
            <a:off x="5920151" y="3904518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Delivered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5EFA1-99B9-F511-F0E0-9819CFE92B47}"/>
              </a:ext>
            </a:extLst>
          </p:cNvPr>
          <p:cNvSpPr/>
          <p:nvPr/>
        </p:nvSpPr>
        <p:spPr>
          <a:xfrm>
            <a:off x="8024445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Incidents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A394C-ED09-6C1F-9E02-FAF204404CB5}"/>
              </a:ext>
            </a:extLst>
          </p:cNvPr>
          <p:cNvSpPr/>
          <p:nvPr/>
        </p:nvSpPr>
        <p:spPr>
          <a:xfrm>
            <a:off x="8024445" y="343486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2B27C-84EC-F1BA-A086-885B541A5E7A}"/>
              </a:ext>
            </a:extLst>
          </p:cNvPr>
          <p:cNvSpPr/>
          <p:nvPr/>
        </p:nvSpPr>
        <p:spPr>
          <a:xfrm>
            <a:off x="8024444" y="393895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Closed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88326-38FF-1147-3FC4-F52E69D0589A}"/>
              </a:ext>
            </a:extLst>
          </p:cNvPr>
          <p:cNvSpPr/>
          <p:nvPr/>
        </p:nvSpPr>
        <p:spPr>
          <a:xfrm>
            <a:off x="10286997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Invoices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2CB722-8A5A-FD7B-7933-E836514CCD51}"/>
              </a:ext>
            </a:extLst>
          </p:cNvPr>
          <p:cNvSpPr/>
          <p:nvPr/>
        </p:nvSpPr>
        <p:spPr>
          <a:xfrm>
            <a:off x="10257692" y="3931630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Bills/Expenses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4A9A3-13B9-A3A7-3CA7-150CB31D3A67}"/>
              </a:ext>
            </a:extLst>
          </p:cNvPr>
          <p:cNvSpPr/>
          <p:nvPr/>
        </p:nvSpPr>
        <p:spPr>
          <a:xfrm>
            <a:off x="10286996" y="4445979"/>
            <a:ext cx="1623648" cy="556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Revenue-</a:t>
            </a:r>
          </a:p>
          <a:p>
            <a:r>
              <a:rPr lang="en-US" dirty="0"/>
              <a:t>Expenses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6CA07-C787-8688-8CAC-171829097D15}"/>
              </a:ext>
            </a:extLst>
          </p:cNvPr>
          <p:cNvSpPr/>
          <p:nvPr/>
        </p:nvSpPr>
        <p:spPr>
          <a:xfrm>
            <a:off x="1119555" y="1421423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9B625-EC44-ED59-C7CA-431AD2C15134}"/>
              </a:ext>
            </a:extLst>
          </p:cNvPr>
          <p:cNvSpPr/>
          <p:nvPr/>
        </p:nvSpPr>
        <p:spPr>
          <a:xfrm>
            <a:off x="1553306" y="3355734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224D4-C2B7-CB69-A885-05E5D0811DF9}"/>
              </a:ext>
            </a:extLst>
          </p:cNvPr>
          <p:cNvSpPr/>
          <p:nvPr/>
        </p:nvSpPr>
        <p:spPr>
          <a:xfrm>
            <a:off x="1553306" y="2908788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D96AE-65C2-8BDD-440D-650A0556B9E4}"/>
              </a:ext>
            </a:extLst>
          </p:cNvPr>
          <p:cNvSpPr/>
          <p:nvPr/>
        </p:nvSpPr>
        <p:spPr>
          <a:xfrm>
            <a:off x="1553305" y="3796815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DCA4E-1398-48C9-FFB4-E5482969AF1B}"/>
              </a:ext>
            </a:extLst>
          </p:cNvPr>
          <p:cNvSpPr/>
          <p:nvPr/>
        </p:nvSpPr>
        <p:spPr>
          <a:xfrm>
            <a:off x="1582609" y="4224706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94E941-2DF2-CF5E-895C-626C39AEADCB}"/>
              </a:ext>
            </a:extLst>
          </p:cNvPr>
          <p:cNvSpPr/>
          <p:nvPr/>
        </p:nvSpPr>
        <p:spPr>
          <a:xfrm>
            <a:off x="3686904" y="2896332"/>
            <a:ext cx="1623648" cy="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Appointments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035734-4FAB-F1CC-7B12-01677DE8B6C9}"/>
              </a:ext>
            </a:extLst>
          </p:cNvPr>
          <p:cNvSpPr/>
          <p:nvPr/>
        </p:nvSpPr>
        <p:spPr>
          <a:xfrm>
            <a:off x="10257692" y="343486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Collections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110697-44CC-F8FE-EB33-C0370CAFA796}"/>
              </a:ext>
            </a:extLst>
          </p:cNvPr>
          <p:cNvSpPr/>
          <p:nvPr/>
        </p:nvSpPr>
        <p:spPr>
          <a:xfrm>
            <a:off x="8891954" y="519479"/>
            <a:ext cx="2713892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Date (start/finish</a:t>
            </a:r>
          </a:p>
        </p:txBody>
      </p:sp>
    </p:spTree>
    <p:extLst>
      <p:ext uri="{BB962C8B-B14F-4D97-AF65-F5344CB8AC3E}">
        <p14:creationId xmlns:p14="http://schemas.microsoft.com/office/powerpoint/2010/main" val="417768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6F835-1E3F-7B03-4343-DE5997E17921}"/>
              </a:ext>
            </a:extLst>
          </p:cNvPr>
          <p:cNvSpPr/>
          <p:nvPr/>
        </p:nvSpPr>
        <p:spPr>
          <a:xfrm>
            <a:off x="3382107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119555" y="505558"/>
            <a:ext cx="6195648" cy="527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Retail/Hospitality Business: (Retail, Restaurant, Venue,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E146D-28B5-7A61-1079-36ECB6194FB5}"/>
              </a:ext>
            </a:extLst>
          </p:cNvPr>
          <p:cNvSpPr/>
          <p:nvPr/>
        </p:nvSpPr>
        <p:spPr>
          <a:xfrm>
            <a:off x="5615353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FB751-155B-2D15-9102-721138E2238B}"/>
              </a:ext>
            </a:extLst>
          </p:cNvPr>
          <p:cNvSpPr/>
          <p:nvPr/>
        </p:nvSpPr>
        <p:spPr>
          <a:xfrm>
            <a:off x="7719646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92625-7A90-F2AF-DB3A-597A059F5050}"/>
              </a:ext>
            </a:extLst>
          </p:cNvPr>
          <p:cNvSpPr/>
          <p:nvPr/>
        </p:nvSpPr>
        <p:spPr>
          <a:xfrm>
            <a:off x="9982198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Billing &amp; Payable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BA7CC-B593-A318-535B-974951DFBFF2}"/>
              </a:ext>
            </a:extLst>
          </p:cNvPr>
          <p:cNvSpPr/>
          <p:nvPr/>
        </p:nvSpPr>
        <p:spPr>
          <a:xfrm>
            <a:off x="3686905" y="3323493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Unit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2E546-BCDF-550C-4C5F-D8688C3A200C}"/>
              </a:ext>
            </a:extLst>
          </p:cNvPr>
          <p:cNvSpPr/>
          <p:nvPr/>
        </p:nvSpPr>
        <p:spPr>
          <a:xfrm>
            <a:off x="3686905" y="3827586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Per visit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46C0A-4131-09A0-1B0E-26711339E092}"/>
              </a:ext>
            </a:extLst>
          </p:cNvPr>
          <p:cNvSpPr/>
          <p:nvPr/>
        </p:nvSpPr>
        <p:spPr>
          <a:xfrm>
            <a:off x="3686904" y="433167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Volume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FC4D7-1B8D-A66E-9190-5EB11D425638}"/>
              </a:ext>
            </a:extLst>
          </p:cNvPr>
          <p:cNvSpPr/>
          <p:nvPr/>
        </p:nvSpPr>
        <p:spPr>
          <a:xfrm>
            <a:off x="5920152" y="289633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C830F-A76B-8F7D-E03A-E5E86A08F998}"/>
              </a:ext>
            </a:extLst>
          </p:cNvPr>
          <p:cNvSpPr/>
          <p:nvPr/>
        </p:nvSpPr>
        <p:spPr>
          <a:xfrm>
            <a:off x="5920152" y="340042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6406D-7BBF-AF84-82C8-DF1776FFF1A9}"/>
              </a:ext>
            </a:extLst>
          </p:cNvPr>
          <p:cNvSpPr/>
          <p:nvPr/>
        </p:nvSpPr>
        <p:spPr>
          <a:xfrm>
            <a:off x="5920151" y="3904518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Delivered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5EFA1-99B9-F511-F0E0-9819CFE92B47}"/>
              </a:ext>
            </a:extLst>
          </p:cNvPr>
          <p:cNvSpPr/>
          <p:nvPr/>
        </p:nvSpPr>
        <p:spPr>
          <a:xfrm>
            <a:off x="8024445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Incidents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A394C-ED09-6C1F-9E02-FAF204404CB5}"/>
              </a:ext>
            </a:extLst>
          </p:cNvPr>
          <p:cNvSpPr/>
          <p:nvPr/>
        </p:nvSpPr>
        <p:spPr>
          <a:xfrm>
            <a:off x="8024445" y="343486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2B27C-84EC-F1BA-A086-885B541A5E7A}"/>
              </a:ext>
            </a:extLst>
          </p:cNvPr>
          <p:cNvSpPr/>
          <p:nvPr/>
        </p:nvSpPr>
        <p:spPr>
          <a:xfrm>
            <a:off x="8024444" y="393895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Closed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88326-38FF-1147-3FC4-F52E69D0589A}"/>
              </a:ext>
            </a:extLst>
          </p:cNvPr>
          <p:cNvSpPr/>
          <p:nvPr/>
        </p:nvSpPr>
        <p:spPr>
          <a:xfrm>
            <a:off x="10286997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Invoices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2CB722-8A5A-FD7B-7933-E836514CCD51}"/>
              </a:ext>
            </a:extLst>
          </p:cNvPr>
          <p:cNvSpPr/>
          <p:nvPr/>
        </p:nvSpPr>
        <p:spPr>
          <a:xfrm>
            <a:off x="10286996" y="3440724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Bills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4A9A3-13B9-A3A7-3CA7-150CB31D3A67}"/>
              </a:ext>
            </a:extLst>
          </p:cNvPr>
          <p:cNvSpPr/>
          <p:nvPr/>
        </p:nvSpPr>
        <p:spPr>
          <a:xfrm>
            <a:off x="10286996" y="4375642"/>
            <a:ext cx="1623648" cy="556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Revenue</a:t>
            </a:r>
          </a:p>
          <a:p>
            <a:r>
              <a:rPr lang="en-US" dirty="0"/>
              <a:t>Expenses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6CA07-C787-8688-8CAC-171829097D15}"/>
              </a:ext>
            </a:extLst>
          </p:cNvPr>
          <p:cNvSpPr/>
          <p:nvPr/>
        </p:nvSpPr>
        <p:spPr>
          <a:xfrm>
            <a:off x="1119555" y="1421423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9B625-EC44-ED59-C7CA-431AD2C15134}"/>
              </a:ext>
            </a:extLst>
          </p:cNvPr>
          <p:cNvSpPr/>
          <p:nvPr/>
        </p:nvSpPr>
        <p:spPr>
          <a:xfrm>
            <a:off x="1553306" y="3355734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224D4-C2B7-CB69-A885-05E5D0811DF9}"/>
              </a:ext>
            </a:extLst>
          </p:cNvPr>
          <p:cNvSpPr/>
          <p:nvPr/>
        </p:nvSpPr>
        <p:spPr>
          <a:xfrm>
            <a:off x="1553306" y="2908788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D96AE-65C2-8BDD-440D-650A0556B9E4}"/>
              </a:ext>
            </a:extLst>
          </p:cNvPr>
          <p:cNvSpPr/>
          <p:nvPr/>
        </p:nvSpPr>
        <p:spPr>
          <a:xfrm>
            <a:off x="1553305" y="3796815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DCA4E-1398-48C9-FFB4-E5482969AF1B}"/>
              </a:ext>
            </a:extLst>
          </p:cNvPr>
          <p:cNvSpPr/>
          <p:nvPr/>
        </p:nvSpPr>
        <p:spPr>
          <a:xfrm>
            <a:off x="1582609" y="4224706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94E941-2DF2-CF5E-895C-626C39AEADCB}"/>
              </a:ext>
            </a:extLst>
          </p:cNvPr>
          <p:cNvSpPr/>
          <p:nvPr/>
        </p:nvSpPr>
        <p:spPr>
          <a:xfrm>
            <a:off x="3686904" y="2896332"/>
            <a:ext cx="1623648" cy="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Daily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BF18E4-BFA2-F807-88D0-3F2B454B53CD}"/>
              </a:ext>
            </a:extLst>
          </p:cNvPr>
          <p:cNvSpPr/>
          <p:nvPr/>
        </p:nvSpPr>
        <p:spPr>
          <a:xfrm>
            <a:off x="1582609" y="4665787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Person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278C69-C7C5-084B-4B90-309CE5157305}"/>
              </a:ext>
            </a:extLst>
          </p:cNvPr>
          <p:cNvSpPr/>
          <p:nvPr/>
        </p:nvSpPr>
        <p:spPr>
          <a:xfrm>
            <a:off x="10286996" y="3904518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Collections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DD2D0C-DFB5-0617-EAD9-72FC6EF3AFAC}"/>
              </a:ext>
            </a:extLst>
          </p:cNvPr>
          <p:cNvSpPr/>
          <p:nvPr/>
        </p:nvSpPr>
        <p:spPr>
          <a:xfrm>
            <a:off x="8891954" y="519479"/>
            <a:ext cx="2713892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Date (start/finish</a:t>
            </a:r>
          </a:p>
        </p:txBody>
      </p:sp>
    </p:spTree>
    <p:extLst>
      <p:ext uri="{BB962C8B-B14F-4D97-AF65-F5344CB8AC3E}">
        <p14:creationId xmlns:p14="http://schemas.microsoft.com/office/powerpoint/2010/main" val="176769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6F835-1E3F-7B03-4343-DE5997E17921}"/>
              </a:ext>
            </a:extLst>
          </p:cNvPr>
          <p:cNvSpPr/>
          <p:nvPr/>
        </p:nvSpPr>
        <p:spPr>
          <a:xfrm>
            <a:off x="3382107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119553" y="563442"/>
            <a:ext cx="8001000" cy="527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Recurring/Membership Service Business (Lawn Care, Cleaning, Pool, Pest, gyms)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E146D-28B5-7A61-1079-36ECB6194FB5}"/>
              </a:ext>
            </a:extLst>
          </p:cNvPr>
          <p:cNvSpPr/>
          <p:nvPr/>
        </p:nvSpPr>
        <p:spPr>
          <a:xfrm>
            <a:off x="5615353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FB751-155B-2D15-9102-721138E2238B}"/>
              </a:ext>
            </a:extLst>
          </p:cNvPr>
          <p:cNvSpPr/>
          <p:nvPr/>
        </p:nvSpPr>
        <p:spPr>
          <a:xfrm>
            <a:off x="7719646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92625-7A90-F2AF-DB3A-597A059F5050}"/>
              </a:ext>
            </a:extLst>
          </p:cNvPr>
          <p:cNvSpPr/>
          <p:nvPr/>
        </p:nvSpPr>
        <p:spPr>
          <a:xfrm>
            <a:off x="9982198" y="1418492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Billing &amp; Payable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BA7CC-B593-A318-535B-974951DFBFF2}"/>
              </a:ext>
            </a:extLst>
          </p:cNvPr>
          <p:cNvSpPr/>
          <p:nvPr/>
        </p:nvSpPr>
        <p:spPr>
          <a:xfrm>
            <a:off x="3686905" y="3323493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Sales Meetings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2E546-BCDF-550C-4C5F-D8688C3A200C}"/>
              </a:ext>
            </a:extLst>
          </p:cNvPr>
          <p:cNvSpPr/>
          <p:nvPr/>
        </p:nvSpPr>
        <p:spPr>
          <a:xfrm>
            <a:off x="3686905" y="3827586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Proposals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46C0A-4131-09A0-1B0E-26711339E092}"/>
              </a:ext>
            </a:extLst>
          </p:cNvPr>
          <p:cNvSpPr/>
          <p:nvPr/>
        </p:nvSpPr>
        <p:spPr>
          <a:xfrm>
            <a:off x="3686904" y="433167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Subscriptions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FC4D7-1B8D-A66E-9190-5EB11D425638}"/>
              </a:ext>
            </a:extLst>
          </p:cNvPr>
          <p:cNvSpPr/>
          <p:nvPr/>
        </p:nvSpPr>
        <p:spPr>
          <a:xfrm>
            <a:off x="5920152" y="289633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C830F-A76B-8F7D-E03A-E5E86A08F998}"/>
              </a:ext>
            </a:extLst>
          </p:cNvPr>
          <p:cNvSpPr/>
          <p:nvPr/>
        </p:nvSpPr>
        <p:spPr>
          <a:xfrm>
            <a:off x="5920152" y="340042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6406D-7BBF-AF84-82C8-DF1776FFF1A9}"/>
              </a:ext>
            </a:extLst>
          </p:cNvPr>
          <p:cNvSpPr/>
          <p:nvPr/>
        </p:nvSpPr>
        <p:spPr>
          <a:xfrm>
            <a:off x="5920151" y="4952273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Delivered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5EFA1-99B9-F511-F0E0-9819CFE92B47}"/>
              </a:ext>
            </a:extLst>
          </p:cNvPr>
          <p:cNvSpPr/>
          <p:nvPr/>
        </p:nvSpPr>
        <p:spPr>
          <a:xfrm>
            <a:off x="8024445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Incidents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A394C-ED09-6C1F-9E02-FAF204404CB5}"/>
              </a:ext>
            </a:extLst>
          </p:cNvPr>
          <p:cNvSpPr/>
          <p:nvPr/>
        </p:nvSpPr>
        <p:spPr>
          <a:xfrm>
            <a:off x="8024445" y="343486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2B27C-84EC-F1BA-A086-885B541A5E7A}"/>
              </a:ext>
            </a:extLst>
          </p:cNvPr>
          <p:cNvSpPr/>
          <p:nvPr/>
        </p:nvSpPr>
        <p:spPr>
          <a:xfrm>
            <a:off x="8024444" y="3938955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Closed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88326-38FF-1147-3FC4-F52E69D0589A}"/>
              </a:ext>
            </a:extLst>
          </p:cNvPr>
          <p:cNvSpPr/>
          <p:nvPr/>
        </p:nvSpPr>
        <p:spPr>
          <a:xfrm>
            <a:off x="10286997" y="2930769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Invoices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2CB722-8A5A-FD7B-7933-E836514CCD51}"/>
              </a:ext>
            </a:extLst>
          </p:cNvPr>
          <p:cNvSpPr/>
          <p:nvPr/>
        </p:nvSpPr>
        <p:spPr>
          <a:xfrm>
            <a:off x="10257692" y="3931630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Bills/Expenses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4A9A3-13B9-A3A7-3CA7-150CB31D3A67}"/>
              </a:ext>
            </a:extLst>
          </p:cNvPr>
          <p:cNvSpPr/>
          <p:nvPr/>
        </p:nvSpPr>
        <p:spPr>
          <a:xfrm>
            <a:off x="10286996" y="4445979"/>
            <a:ext cx="1623648" cy="556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Revenue-</a:t>
            </a:r>
          </a:p>
          <a:p>
            <a:r>
              <a:rPr lang="en-US" dirty="0"/>
              <a:t>Expenses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6CA07-C787-8688-8CAC-171829097D15}"/>
              </a:ext>
            </a:extLst>
          </p:cNvPr>
          <p:cNvSpPr/>
          <p:nvPr/>
        </p:nvSpPr>
        <p:spPr>
          <a:xfrm>
            <a:off x="1119555" y="1421423"/>
            <a:ext cx="1928447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9B625-EC44-ED59-C7CA-431AD2C15134}"/>
              </a:ext>
            </a:extLst>
          </p:cNvPr>
          <p:cNvSpPr/>
          <p:nvPr/>
        </p:nvSpPr>
        <p:spPr>
          <a:xfrm>
            <a:off x="1553306" y="3355734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224D4-C2B7-CB69-A885-05E5D0811DF9}"/>
              </a:ext>
            </a:extLst>
          </p:cNvPr>
          <p:cNvSpPr/>
          <p:nvPr/>
        </p:nvSpPr>
        <p:spPr>
          <a:xfrm>
            <a:off x="1553306" y="2908788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D96AE-65C2-8BDD-440D-650A0556B9E4}"/>
              </a:ext>
            </a:extLst>
          </p:cNvPr>
          <p:cNvSpPr/>
          <p:nvPr/>
        </p:nvSpPr>
        <p:spPr>
          <a:xfrm>
            <a:off x="1553305" y="3796815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DCA4E-1398-48C9-FFB4-E5482969AF1B}"/>
              </a:ext>
            </a:extLst>
          </p:cNvPr>
          <p:cNvSpPr/>
          <p:nvPr/>
        </p:nvSpPr>
        <p:spPr>
          <a:xfrm>
            <a:off x="1582609" y="4224706"/>
            <a:ext cx="1494696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94E941-2DF2-CF5E-895C-626C39AEADCB}"/>
              </a:ext>
            </a:extLst>
          </p:cNvPr>
          <p:cNvSpPr/>
          <p:nvPr/>
        </p:nvSpPr>
        <p:spPr>
          <a:xfrm>
            <a:off x="3686904" y="2896332"/>
            <a:ext cx="1623648" cy="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Appointments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035734-4FAB-F1CC-7B12-01677DE8B6C9}"/>
              </a:ext>
            </a:extLst>
          </p:cNvPr>
          <p:cNvSpPr/>
          <p:nvPr/>
        </p:nvSpPr>
        <p:spPr>
          <a:xfrm>
            <a:off x="10257692" y="3434862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Collections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110697-44CC-F8FE-EB33-C0370CAFA796}"/>
              </a:ext>
            </a:extLst>
          </p:cNvPr>
          <p:cNvSpPr/>
          <p:nvPr/>
        </p:nvSpPr>
        <p:spPr>
          <a:xfrm>
            <a:off x="9185025" y="526074"/>
            <a:ext cx="2713892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Date (start/finish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0B8B9A-2C5B-6923-CC10-DBEEC548E304}"/>
              </a:ext>
            </a:extLst>
          </p:cNvPr>
          <p:cNvSpPr/>
          <p:nvPr/>
        </p:nvSpPr>
        <p:spPr>
          <a:xfrm>
            <a:off x="5920152" y="3938958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Scheduling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E4FE7B-43E4-14DB-E31A-52CF11B827C7}"/>
              </a:ext>
            </a:extLst>
          </p:cNvPr>
          <p:cNvSpPr/>
          <p:nvPr/>
        </p:nvSpPr>
        <p:spPr>
          <a:xfrm>
            <a:off x="5920151" y="4441587"/>
            <a:ext cx="1623648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Routes</a:t>
            </a:r>
          </a:p>
        </p:txBody>
      </p:sp>
    </p:spTree>
    <p:extLst>
      <p:ext uri="{BB962C8B-B14F-4D97-AF65-F5344CB8AC3E}">
        <p14:creationId xmlns:p14="http://schemas.microsoft.com/office/powerpoint/2010/main" val="281152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6F835-1E3F-7B03-4343-DE5997E17921}"/>
              </a:ext>
            </a:extLst>
          </p:cNvPr>
          <p:cNvSpPr/>
          <p:nvPr/>
        </p:nvSpPr>
        <p:spPr>
          <a:xfrm>
            <a:off x="1515114" y="1412636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Ads</a:t>
            </a:r>
          </a:p>
          <a:p>
            <a:pPr algn="ctr"/>
            <a:r>
              <a:rPr lang="en-US" sz="1400" dirty="0"/>
              <a:t>Classifieds</a:t>
            </a:r>
          </a:p>
          <a:p>
            <a:pPr algn="ctr"/>
            <a:r>
              <a:rPr lang="en-US" sz="1400" dirty="0"/>
              <a:t>Emails</a:t>
            </a:r>
          </a:p>
          <a:p>
            <a:pPr algn="ctr"/>
            <a:r>
              <a:rPr lang="en-US" sz="1400" dirty="0"/>
              <a:t>Notices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758460" y="474785"/>
            <a:ext cx="5334001" cy="527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Services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E146D-28B5-7A61-1079-36ECB6194FB5}"/>
              </a:ext>
            </a:extLst>
          </p:cNvPr>
          <p:cNvSpPr/>
          <p:nvPr/>
        </p:nvSpPr>
        <p:spPr>
          <a:xfrm>
            <a:off x="2778670" y="1402384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FB751-155B-2D15-9102-721138E2238B}"/>
              </a:ext>
            </a:extLst>
          </p:cNvPr>
          <p:cNvSpPr/>
          <p:nvPr/>
        </p:nvSpPr>
        <p:spPr>
          <a:xfrm>
            <a:off x="9647350" y="1424354"/>
            <a:ext cx="1255320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Tickets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92625-7A90-F2AF-DB3A-597A059F5050}"/>
              </a:ext>
            </a:extLst>
          </p:cNvPr>
          <p:cNvSpPr/>
          <p:nvPr/>
        </p:nvSpPr>
        <p:spPr>
          <a:xfrm>
            <a:off x="10995107" y="1412636"/>
            <a:ext cx="1022842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Achievements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BA7CC-B593-A318-535B-974951DFBFF2}"/>
              </a:ext>
            </a:extLst>
          </p:cNvPr>
          <p:cNvSpPr/>
          <p:nvPr/>
        </p:nvSpPr>
        <p:spPr>
          <a:xfrm>
            <a:off x="1515114" y="3317637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Sales Meetings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2E546-BCDF-550C-4C5F-D8688C3A200C}"/>
              </a:ext>
            </a:extLst>
          </p:cNvPr>
          <p:cNvSpPr/>
          <p:nvPr/>
        </p:nvSpPr>
        <p:spPr>
          <a:xfrm>
            <a:off x="1515114" y="3821730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Proposals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46C0A-4131-09A0-1B0E-26711339E092}"/>
              </a:ext>
            </a:extLst>
          </p:cNvPr>
          <p:cNvSpPr/>
          <p:nvPr/>
        </p:nvSpPr>
        <p:spPr>
          <a:xfrm>
            <a:off x="1515113" y="4325823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Orders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EFC4D7-1B8D-A66E-9190-5EB11D425638}"/>
              </a:ext>
            </a:extLst>
          </p:cNvPr>
          <p:cNvSpPr/>
          <p:nvPr/>
        </p:nvSpPr>
        <p:spPr>
          <a:xfrm>
            <a:off x="2778669" y="2880224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C830F-A76B-8F7D-E03A-E5E86A08F998}"/>
              </a:ext>
            </a:extLst>
          </p:cNvPr>
          <p:cNvSpPr/>
          <p:nvPr/>
        </p:nvSpPr>
        <p:spPr>
          <a:xfrm>
            <a:off x="2778669" y="3384317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6406D-7BBF-AF84-82C8-DF1776FFF1A9}"/>
              </a:ext>
            </a:extLst>
          </p:cNvPr>
          <p:cNvSpPr/>
          <p:nvPr/>
        </p:nvSpPr>
        <p:spPr>
          <a:xfrm>
            <a:off x="2778668" y="3888410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Delivered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5EFA1-99B9-F511-F0E0-9819CFE92B47}"/>
              </a:ext>
            </a:extLst>
          </p:cNvPr>
          <p:cNvSpPr/>
          <p:nvPr/>
        </p:nvSpPr>
        <p:spPr>
          <a:xfrm>
            <a:off x="9647349" y="2936631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Incidents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A394C-ED09-6C1F-9E02-FAF204404CB5}"/>
              </a:ext>
            </a:extLst>
          </p:cNvPr>
          <p:cNvSpPr/>
          <p:nvPr/>
        </p:nvSpPr>
        <p:spPr>
          <a:xfrm>
            <a:off x="9647349" y="3440724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2B27C-84EC-F1BA-A086-885B541A5E7A}"/>
              </a:ext>
            </a:extLst>
          </p:cNvPr>
          <p:cNvSpPr/>
          <p:nvPr/>
        </p:nvSpPr>
        <p:spPr>
          <a:xfrm>
            <a:off x="9647348" y="3944817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Closed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88326-38FF-1147-3FC4-F52E69D0589A}"/>
              </a:ext>
            </a:extLst>
          </p:cNvPr>
          <p:cNvSpPr/>
          <p:nvPr/>
        </p:nvSpPr>
        <p:spPr>
          <a:xfrm>
            <a:off x="10995105" y="2924913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Invoices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2CB722-8A5A-FD7B-7933-E836514CCD51}"/>
              </a:ext>
            </a:extLst>
          </p:cNvPr>
          <p:cNvSpPr/>
          <p:nvPr/>
        </p:nvSpPr>
        <p:spPr>
          <a:xfrm>
            <a:off x="10965800" y="3925774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Bills/Expenses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4A9A3-13B9-A3A7-3CA7-150CB31D3A67}"/>
              </a:ext>
            </a:extLst>
          </p:cNvPr>
          <p:cNvSpPr/>
          <p:nvPr/>
        </p:nvSpPr>
        <p:spPr>
          <a:xfrm>
            <a:off x="10995104" y="4440123"/>
            <a:ext cx="1011085" cy="556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Revenue-</a:t>
            </a:r>
          </a:p>
          <a:p>
            <a:r>
              <a:rPr lang="en-US" sz="1400" dirty="0"/>
              <a:t>Expenses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6CA07-C787-8688-8CAC-171829097D15}"/>
              </a:ext>
            </a:extLst>
          </p:cNvPr>
          <p:cNvSpPr/>
          <p:nvPr/>
        </p:nvSpPr>
        <p:spPr>
          <a:xfrm>
            <a:off x="181969" y="1386990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Articles</a:t>
            </a:r>
          </a:p>
          <a:p>
            <a:pPr algn="ctr"/>
            <a:r>
              <a:rPr lang="en-US" sz="1400" dirty="0"/>
              <a:t>Announcements</a:t>
            </a:r>
          </a:p>
          <a:p>
            <a:pPr algn="ctr"/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9B625-EC44-ED59-C7CA-431AD2C15134}"/>
              </a:ext>
            </a:extLst>
          </p:cNvPr>
          <p:cNvSpPr/>
          <p:nvPr/>
        </p:nvSpPr>
        <p:spPr>
          <a:xfrm>
            <a:off x="201328" y="3269290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Published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224D4-C2B7-CB69-A885-05E5D0811DF9}"/>
              </a:ext>
            </a:extLst>
          </p:cNvPr>
          <p:cNvSpPr/>
          <p:nvPr/>
        </p:nvSpPr>
        <p:spPr>
          <a:xfrm>
            <a:off x="201328" y="2822344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Published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D96AE-65C2-8BDD-440D-650A0556B9E4}"/>
              </a:ext>
            </a:extLst>
          </p:cNvPr>
          <p:cNvSpPr/>
          <p:nvPr/>
        </p:nvSpPr>
        <p:spPr>
          <a:xfrm>
            <a:off x="201327" y="3710371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 progress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DCA4E-1398-48C9-FFB4-E5482969AF1B}"/>
              </a:ext>
            </a:extLst>
          </p:cNvPr>
          <p:cNvSpPr/>
          <p:nvPr/>
        </p:nvSpPr>
        <p:spPr>
          <a:xfrm>
            <a:off x="230631" y="4138262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Approved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94E941-2DF2-CF5E-895C-626C39AEADCB}"/>
              </a:ext>
            </a:extLst>
          </p:cNvPr>
          <p:cNvSpPr/>
          <p:nvPr/>
        </p:nvSpPr>
        <p:spPr>
          <a:xfrm>
            <a:off x="1515113" y="2890476"/>
            <a:ext cx="1183381" cy="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Running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035734-4FAB-F1CC-7B12-01677DE8B6C9}"/>
              </a:ext>
            </a:extLst>
          </p:cNvPr>
          <p:cNvSpPr/>
          <p:nvPr/>
        </p:nvSpPr>
        <p:spPr>
          <a:xfrm>
            <a:off x="10965800" y="3429006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Collections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110697-44CC-F8FE-EB33-C0370CAFA796}"/>
              </a:ext>
            </a:extLst>
          </p:cNvPr>
          <p:cNvSpPr/>
          <p:nvPr/>
        </p:nvSpPr>
        <p:spPr>
          <a:xfrm>
            <a:off x="8891954" y="519479"/>
            <a:ext cx="2713892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Date (start/finish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922385-AC9E-E4C8-A405-CE1A92485BCF}"/>
              </a:ext>
            </a:extLst>
          </p:cNvPr>
          <p:cNvSpPr/>
          <p:nvPr/>
        </p:nvSpPr>
        <p:spPr>
          <a:xfrm>
            <a:off x="230631" y="4637959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Views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58A9EB-BCCA-2989-B985-C3AA7C9C9486}"/>
              </a:ext>
            </a:extLst>
          </p:cNvPr>
          <p:cNvSpPr/>
          <p:nvPr/>
        </p:nvSpPr>
        <p:spPr>
          <a:xfrm>
            <a:off x="8463490" y="1424354"/>
            <a:ext cx="1066373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  <a:br>
              <a:rPr lang="en-US" dirty="0"/>
            </a:br>
            <a:r>
              <a:rPr lang="en-US" dirty="0"/>
              <a:t>Media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BFA69D-B926-8864-9837-4E7896A489A6}"/>
              </a:ext>
            </a:extLst>
          </p:cNvPr>
          <p:cNvSpPr/>
          <p:nvPr/>
        </p:nvSpPr>
        <p:spPr>
          <a:xfrm>
            <a:off x="8463491" y="2936631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Posts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F62D78-18AB-9CD5-9304-A718392C6DF1}"/>
              </a:ext>
            </a:extLst>
          </p:cNvPr>
          <p:cNvSpPr/>
          <p:nvPr/>
        </p:nvSpPr>
        <p:spPr>
          <a:xfrm>
            <a:off x="8463491" y="3440724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Views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34D6FD-27A4-49CA-FFB1-A2ADEA03397C}"/>
              </a:ext>
            </a:extLst>
          </p:cNvPr>
          <p:cNvSpPr/>
          <p:nvPr/>
        </p:nvSpPr>
        <p:spPr>
          <a:xfrm>
            <a:off x="8463490" y="394481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Clicks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7D7E9B-6222-0A38-74AC-8D5F291156AE}"/>
              </a:ext>
            </a:extLst>
          </p:cNvPr>
          <p:cNvSpPr/>
          <p:nvPr/>
        </p:nvSpPr>
        <p:spPr>
          <a:xfrm>
            <a:off x="4079536" y="1367947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Websites</a:t>
            </a:r>
          </a:p>
          <a:p>
            <a:pPr algn="ctr"/>
            <a:r>
              <a:rPr lang="en-US" sz="1400" dirty="0"/>
              <a:t>Business</a:t>
            </a:r>
          </a:p>
          <a:p>
            <a:pPr algn="ctr"/>
            <a:r>
              <a:rPr lang="en-US" sz="1400" dirty="0"/>
              <a:t>Directories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CFF0CD-ED24-AED5-3E88-C8AC9600697D}"/>
              </a:ext>
            </a:extLst>
          </p:cNvPr>
          <p:cNvSpPr/>
          <p:nvPr/>
        </p:nvSpPr>
        <p:spPr>
          <a:xfrm>
            <a:off x="4079536" y="2880224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Views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AECC75-DAB8-4866-7FE4-B71456BE49D7}"/>
              </a:ext>
            </a:extLst>
          </p:cNvPr>
          <p:cNvSpPr/>
          <p:nvPr/>
        </p:nvSpPr>
        <p:spPr>
          <a:xfrm>
            <a:off x="4079536" y="3384317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Clicks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8BFB38-F0F8-19D4-CE6C-833316905A7E}"/>
              </a:ext>
            </a:extLst>
          </p:cNvPr>
          <p:cNvSpPr/>
          <p:nvPr/>
        </p:nvSpPr>
        <p:spPr>
          <a:xfrm>
            <a:off x="4079535" y="3888410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AI Engagements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9E925C-B064-92D5-2DB6-E2558FC40C08}"/>
              </a:ext>
            </a:extLst>
          </p:cNvPr>
          <p:cNvSpPr/>
          <p:nvPr/>
        </p:nvSpPr>
        <p:spPr>
          <a:xfrm>
            <a:off x="5380402" y="1367947"/>
            <a:ext cx="1066373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8CF4C8-7390-AA57-AB4B-A52C5DE51CF0}"/>
              </a:ext>
            </a:extLst>
          </p:cNvPr>
          <p:cNvSpPr/>
          <p:nvPr/>
        </p:nvSpPr>
        <p:spPr>
          <a:xfrm>
            <a:off x="5380402" y="338431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Inbound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27EC6D-4D6A-4E36-41CB-2310326860E2}"/>
              </a:ext>
            </a:extLst>
          </p:cNvPr>
          <p:cNvSpPr/>
          <p:nvPr/>
        </p:nvSpPr>
        <p:spPr>
          <a:xfrm>
            <a:off x="5380402" y="3888410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Outbound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E322C5-5EFB-D4FB-98AC-978DF66C4729}"/>
              </a:ext>
            </a:extLst>
          </p:cNvPr>
          <p:cNvSpPr/>
          <p:nvPr/>
        </p:nvSpPr>
        <p:spPr>
          <a:xfrm>
            <a:off x="5380401" y="4392503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Confirmations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329C2C-5E52-7F20-9835-7CAB14E6C172}"/>
              </a:ext>
            </a:extLst>
          </p:cNvPr>
          <p:cNvSpPr/>
          <p:nvPr/>
        </p:nvSpPr>
        <p:spPr>
          <a:xfrm>
            <a:off x="5379483" y="4835076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Appointments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F0B9CA-A194-42C5-51DD-03D52D10E189}"/>
              </a:ext>
            </a:extLst>
          </p:cNvPr>
          <p:cNvSpPr/>
          <p:nvPr/>
        </p:nvSpPr>
        <p:spPr>
          <a:xfrm>
            <a:off x="2778668" y="4337541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Reminders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CA19AF-4D45-13B0-818F-19F5B0C4F48C}"/>
              </a:ext>
            </a:extLst>
          </p:cNvPr>
          <p:cNvSpPr/>
          <p:nvPr/>
        </p:nvSpPr>
        <p:spPr>
          <a:xfrm>
            <a:off x="2778667" y="4803547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Tickets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6266BC-1F24-C319-BBD3-B51DD8AC96E4}"/>
              </a:ext>
            </a:extLst>
          </p:cNvPr>
          <p:cNvSpPr/>
          <p:nvPr/>
        </p:nvSpPr>
        <p:spPr>
          <a:xfrm>
            <a:off x="2778667" y="5299593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Ads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041D01-9610-9B94-BF34-703E1E683E9D}"/>
              </a:ext>
            </a:extLst>
          </p:cNvPr>
          <p:cNvSpPr/>
          <p:nvPr/>
        </p:nvSpPr>
        <p:spPr>
          <a:xfrm>
            <a:off x="2778667" y="5811015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Outbound Ads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87CC8C-F972-0177-FDD5-52A1B36E987D}"/>
              </a:ext>
            </a:extLst>
          </p:cNvPr>
          <p:cNvSpPr/>
          <p:nvPr/>
        </p:nvSpPr>
        <p:spPr>
          <a:xfrm>
            <a:off x="5379482" y="5283449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Service Calls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9F0456-B0E1-E614-2931-B124D23C9D22}"/>
              </a:ext>
            </a:extLst>
          </p:cNvPr>
          <p:cNvSpPr/>
          <p:nvPr/>
        </p:nvSpPr>
        <p:spPr>
          <a:xfrm>
            <a:off x="5379481" y="575319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Proposals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04712C6-A5D1-319B-B8B4-BA1164AF471C}"/>
              </a:ext>
            </a:extLst>
          </p:cNvPr>
          <p:cNvSpPr/>
          <p:nvPr/>
        </p:nvSpPr>
        <p:spPr>
          <a:xfrm>
            <a:off x="5379481" y="6230115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Orders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690E9-79CB-C932-38A7-DBF624136F44}"/>
              </a:ext>
            </a:extLst>
          </p:cNvPr>
          <p:cNvSpPr/>
          <p:nvPr/>
        </p:nvSpPr>
        <p:spPr>
          <a:xfrm>
            <a:off x="5379481" y="6734208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Shipments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35EB75B-C3BE-4DEB-DE4A-B5E7AEF2B285}"/>
              </a:ext>
            </a:extLst>
          </p:cNvPr>
          <p:cNvSpPr/>
          <p:nvPr/>
        </p:nvSpPr>
        <p:spPr>
          <a:xfrm>
            <a:off x="5379481" y="2880224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Ad Engagement</a:t>
            </a:r>
          </a:p>
        </p:txBody>
      </p:sp>
    </p:spTree>
    <p:extLst>
      <p:ext uri="{BB962C8B-B14F-4D97-AF65-F5344CB8AC3E}">
        <p14:creationId xmlns:p14="http://schemas.microsoft.com/office/powerpoint/2010/main" val="407382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F13320-B15F-67C8-D337-2D427446B5DB}"/>
              </a:ext>
            </a:extLst>
          </p:cNvPr>
          <p:cNvSpPr/>
          <p:nvPr/>
        </p:nvSpPr>
        <p:spPr>
          <a:xfrm rot="10800000" flipV="1">
            <a:off x="1060938" y="222738"/>
            <a:ext cx="1471247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Consulting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E6CAC-1E50-B761-66CB-B0EEA9804F2A}"/>
              </a:ext>
            </a:extLst>
          </p:cNvPr>
          <p:cNvSpPr/>
          <p:nvPr/>
        </p:nvSpPr>
        <p:spPr>
          <a:xfrm rot="10800000" flipV="1">
            <a:off x="1060937" y="1389185"/>
            <a:ext cx="2684585" cy="152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C8F92C-F57E-9D55-B860-A8BEF53292F2}"/>
              </a:ext>
            </a:extLst>
          </p:cNvPr>
          <p:cNvSpPr/>
          <p:nvPr/>
        </p:nvSpPr>
        <p:spPr>
          <a:xfrm rot="10800000" flipV="1">
            <a:off x="3927229" y="1389185"/>
            <a:ext cx="2684585" cy="152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B6DB6A-A1D4-AEEB-5A39-7BA438DC996E}"/>
              </a:ext>
            </a:extLst>
          </p:cNvPr>
          <p:cNvSpPr/>
          <p:nvPr/>
        </p:nvSpPr>
        <p:spPr>
          <a:xfrm rot="10800000" flipV="1">
            <a:off x="6793521" y="1389185"/>
            <a:ext cx="2684585" cy="152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Operations Plan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59BA20-E88D-979F-633A-61C83C13E40C}"/>
              </a:ext>
            </a:extLst>
          </p:cNvPr>
          <p:cNvSpPr/>
          <p:nvPr/>
        </p:nvSpPr>
        <p:spPr>
          <a:xfrm rot="10800000" flipV="1">
            <a:off x="1060936" y="3174023"/>
            <a:ext cx="2684585" cy="152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Support Plan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B9371A-C1D5-59F9-D91E-BEA8A2D9EE12}"/>
              </a:ext>
            </a:extLst>
          </p:cNvPr>
          <p:cNvSpPr/>
          <p:nvPr/>
        </p:nvSpPr>
        <p:spPr>
          <a:xfrm rot="10800000" flipV="1">
            <a:off x="3927228" y="3174022"/>
            <a:ext cx="2684585" cy="1529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Invoice, Billing and Collections Plan</a:t>
            </a:r>
          </a:p>
        </p:txBody>
      </p:sp>
    </p:spTree>
    <p:extLst>
      <p:ext uri="{BB962C8B-B14F-4D97-AF65-F5344CB8AC3E}">
        <p14:creationId xmlns:p14="http://schemas.microsoft.com/office/powerpoint/2010/main" val="1870339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F13320-B15F-67C8-D337-2D427446B5DB}"/>
              </a:ext>
            </a:extLst>
          </p:cNvPr>
          <p:cNvSpPr/>
          <p:nvPr/>
        </p:nvSpPr>
        <p:spPr>
          <a:xfrm rot="10800000" flipV="1">
            <a:off x="1060938" y="222738"/>
            <a:ext cx="1471247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 </a:t>
            </a:r>
          </a:p>
          <a:p>
            <a:pPr algn="ctr"/>
            <a:r>
              <a:rPr lang="en-US" dirty="0"/>
              <a:t>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53C759-427E-DD18-762F-A14D6BC7CB6C}"/>
              </a:ext>
            </a:extLst>
          </p:cNvPr>
          <p:cNvSpPr/>
          <p:nvPr/>
        </p:nvSpPr>
        <p:spPr>
          <a:xfrm>
            <a:off x="1731991" y="1143005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Ads</a:t>
            </a:r>
          </a:p>
          <a:p>
            <a:pPr algn="ctr"/>
            <a:r>
              <a:rPr lang="en-US" sz="1400" dirty="0"/>
              <a:t>Classifieds</a:t>
            </a:r>
          </a:p>
          <a:p>
            <a:pPr algn="ctr"/>
            <a:r>
              <a:rPr lang="en-US" sz="1400" dirty="0"/>
              <a:t>Emails</a:t>
            </a:r>
          </a:p>
          <a:p>
            <a:pPr algn="ctr"/>
            <a:r>
              <a:rPr lang="en-US" sz="1400" dirty="0"/>
              <a:t>Notices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3FEB32-0067-2E1E-3375-21DE82309501}"/>
              </a:ext>
            </a:extLst>
          </p:cNvPr>
          <p:cNvSpPr/>
          <p:nvPr/>
        </p:nvSpPr>
        <p:spPr>
          <a:xfrm>
            <a:off x="3147947" y="1144471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1B64B2-9E7A-4606-8A36-F5D08C5D1FAA}"/>
              </a:ext>
            </a:extLst>
          </p:cNvPr>
          <p:cNvSpPr/>
          <p:nvPr/>
        </p:nvSpPr>
        <p:spPr>
          <a:xfrm>
            <a:off x="8196175" y="1129077"/>
            <a:ext cx="1255320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Tickets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8FF016-5681-AEE9-0897-5899A0B21F3A}"/>
              </a:ext>
            </a:extLst>
          </p:cNvPr>
          <p:cNvSpPr/>
          <p:nvPr/>
        </p:nvSpPr>
        <p:spPr>
          <a:xfrm>
            <a:off x="9543932" y="1117359"/>
            <a:ext cx="1022842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Achievements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E6D50F-73A7-60B4-9F5D-581FE8A1C7B0}"/>
              </a:ext>
            </a:extLst>
          </p:cNvPr>
          <p:cNvSpPr/>
          <p:nvPr/>
        </p:nvSpPr>
        <p:spPr>
          <a:xfrm>
            <a:off x="1731991" y="3048006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Clicks: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45306-5FC5-A633-95C6-2B83706EF5A5}"/>
              </a:ext>
            </a:extLst>
          </p:cNvPr>
          <p:cNvSpPr/>
          <p:nvPr/>
        </p:nvSpPr>
        <p:spPr>
          <a:xfrm>
            <a:off x="1731991" y="3552099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Engagements: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99EC71-0461-4838-D1A8-367F129312C9}"/>
              </a:ext>
            </a:extLst>
          </p:cNvPr>
          <p:cNvSpPr/>
          <p:nvPr/>
        </p:nvSpPr>
        <p:spPr>
          <a:xfrm>
            <a:off x="1731990" y="4056192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Follow-ups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AD3BD-6C4E-25C2-19E5-AC5796A7C572}"/>
              </a:ext>
            </a:extLst>
          </p:cNvPr>
          <p:cNvSpPr/>
          <p:nvPr/>
        </p:nvSpPr>
        <p:spPr>
          <a:xfrm>
            <a:off x="3147946" y="2622311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Orders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61CA0C-4175-7E29-3DA2-DC656F400AE1}"/>
              </a:ext>
            </a:extLst>
          </p:cNvPr>
          <p:cNvSpPr/>
          <p:nvPr/>
        </p:nvSpPr>
        <p:spPr>
          <a:xfrm>
            <a:off x="3147946" y="3126404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563BB7-4023-B0FA-6274-9339C8EB81BB}"/>
              </a:ext>
            </a:extLst>
          </p:cNvPr>
          <p:cNvSpPr/>
          <p:nvPr/>
        </p:nvSpPr>
        <p:spPr>
          <a:xfrm>
            <a:off x="3147945" y="3630497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Delivered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B97F06-F4B4-273E-F6FE-A5ADE7E59780}"/>
              </a:ext>
            </a:extLst>
          </p:cNvPr>
          <p:cNvSpPr/>
          <p:nvPr/>
        </p:nvSpPr>
        <p:spPr>
          <a:xfrm>
            <a:off x="8196174" y="2641354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Incidents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E766FB-D9BA-D4C6-BB15-A27895A1DA4C}"/>
              </a:ext>
            </a:extLst>
          </p:cNvPr>
          <p:cNvSpPr/>
          <p:nvPr/>
        </p:nvSpPr>
        <p:spPr>
          <a:xfrm>
            <a:off x="8196174" y="3145447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 progress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126A42-8814-5E8F-4B88-46500CCDA184}"/>
              </a:ext>
            </a:extLst>
          </p:cNvPr>
          <p:cNvSpPr/>
          <p:nvPr/>
        </p:nvSpPr>
        <p:spPr>
          <a:xfrm>
            <a:off x="8196173" y="3649540"/>
            <a:ext cx="1255320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Closed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0571FC-E495-74ED-889C-5CAD64113895}"/>
              </a:ext>
            </a:extLst>
          </p:cNvPr>
          <p:cNvSpPr/>
          <p:nvPr/>
        </p:nvSpPr>
        <p:spPr>
          <a:xfrm>
            <a:off x="9543930" y="2629636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Invoices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6390F9-57C1-8605-30D5-64B64942851B}"/>
              </a:ext>
            </a:extLst>
          </p:cNvPr>
          <p:cNvSpPr/>
          <p:nvPr/>
        </p:nvSpPr>
        <p:spPr>
          <a:xfrm>
            <a:off x="9514625" y="3630497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Bills/Expenses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104BED-05C0-F4DD-B90F-C3133032BBC1}"/>
              </a:ext>
            </a:extLst>
          </p:cNvPr>
          <p:cNvSpPr/>
          <p:nvPr/>
        </p:nvSpPr>
        <p:spPr>
          <a:xfrm>
            <a:off x="9543929" y="4144846"/>
            <a:ext cx="1011085" cy="5568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Revenue-</a:t>
            </a:r>
          </a:p>
          <a:p>
            <a:r>
              <a:rPr lang="en-US" sz="1400" dirty="0"/>
              <a:t>Expenses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5CE006-A1CF-19DF-74D5-733635FDCAF6}"/>
              </a:ext>
            </a:extLst>
          </p:cNvPr>
          <p:cNvSpPr/>
          <p:nvPr/>
        </p:nvSpPr>
        <p:spPr>
          <a:xfrm>
            <a:off x="398846" y="1117359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Articles</a:t>
            </a:r>
          </a:p>
          <a:p>
            <a:pPr algn="ctr"/>
            <a:r>
              <a:rPr lang="en-US" sz="1400" dirty="0"/>
              <a:t>Announcements</a:t>
            </a:r>
          </a:p>
          <a:p>
            <a:pPr algn="ctr"/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17C205-6C95-D001-35B9-6B80E50DA21F}"/>
              </a:ext>
            </a:extLst>
          </p:cNvPr>
          <p:cNvSpPr/>
          <p:nvPr/>
        </p:nvSpPr>
        <p:spPr>
          <a:xfrm>
            <a:off x="418205" y="2999659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To be: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F7AF77-769C-9621-EBE7-C94A9FB659B4}"/>
              </a:ext>
            </a:extLst>
          </p:cNvPr>
          <p:cNvSpPr/>
          <p:nvPr/>
        </p:nvSpPr>
        <p:spPr>
          <a:xfrm>
            <a:off x="418205" y="2552713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Published: 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D31844-5185-070E-B607-FB417A2ACFCD}"/>
              </a:ext>
            </a:extLst>
          </p:cNvPr>
          <p:cNvSpPr/>
          <p:nvPr/>
        </p:nvSpPr>
        <p:spPr>
          <a:xfrm>
            <a:off x="418204" y="3440740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 progress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D1BF65-9472-D72B-AD49-D8E63384778D}"/>
              </a:ext>
            </a:extLst>
          </p:cNvPr>
          <p:cNvSpPr/>
          <p:nvPr/>
        </p:nvSpPr>
        <p:spPr>
          <a:xfrm>
            <a:off x="447508" y="3868631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Approved 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D7872D-039A-0FAC-CA5B-A31E0B7E71B9}"/>
              </a:ext>
            </a:extLst>
          </p:cNvPr>
          <p:cNvSpPr/>
          <p:nvPr/>
        </p:nvSpPr>
        <p:spPr>
          <a:xfrm>
            <a:off x="1731990" y="2620845"/>
            <a:ext cx="1183381" cy="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Running: 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E5227C-0DE0-662C-925F-5676FFF6D37A}"/>
              </a:ext>
            </a:extLst>
          </p:cNvPr>
          <p:cNvSpPr/>
          <p:nvPr/>
        </p:nvSpPr>
        <p:spPr>
          <a:xfrm>
            <a:off x="9514625" y="3133729"/>
            <a:ext cx="1011085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Collections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C02890-9228-4A94-3810-CDF030E9EEF4}"/>
              </a:ext>
            </a:extLst>
          </p:cNvPr>
          <p:cNvSpPr/>
          <p:nvPr/>
        </p:nvSpPr>
        <p:spPr>
          <a:xfrm>
            <a:off x="447508" y="4368328"/>
            <a:ext cx="1164022" cy="33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Views 14,400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6833EB-F948-54FA-1043-9647AB991038}"/>
              </a:ext>
            </a:extLst>
          </p:cNvPr>
          <p:cNvSpPr/>
          <p:nvPr/>
        </p:nvSpPr>
        <p:spPr>
          <a:xfrm>
            <a:off x="7012315" y="1129077"/>
            <a:ext cx="1066373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  <a:br>
              <a:rPr lang="en-US" dirty="0"/>
            </a:br>
            <a:r>
              <a:rPr lang="en-US" dirty="0"/>
              <a:t>Media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295813-F92A-4A94-5C30-3F83E6509B4E}"/>
              </a:ext>
            </a:extLst>
          </p:cNvPr>
          <p:cNvSpPr/>
          <p:nvPr/>
        </p:nvSpPr>
        <p:spPr>
          <a:xfrm>
            <a:off x="7012316" y="2641354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Posts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C6C321-21C6-5C43-05EC-C81911D0BB36}"/>
              </a:ext>
            </a:extLst>
          </p:cNvPr>
          <p:cNvSpPr/>
          <p:nvPr/>
        </p:nvSpPr>
        <p:spPr>
          <a:xfrm>
            <a:off x="7012316" y="314544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Views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86D4A3-D69C-9E72-574D-92864B0DC95E}"/>
              </a:ext>
            </a:extLst>
          </p:cNvPr>
          <p:cNvSpPr/>
          <p:nvPr/>
        </p:nvSpPr>
        <p:spPr>
          <a:xfrm>
            <a:off x="7012315" y="3649540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Clicks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8D33D9-2D5D-DF93-81F6-CFC61411FEDD}"/>
              </a:ext>
            </a:extLst>
          </p:cNvPr>
          <p:cNvSpPr/>
          <p:nvPr/>
        </p:nvSpPr>
        <p:spPr>
          <a:xfrm>
            <a:off x="4448813" y="1110034"/>
            <a:ext cx="1183381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Websites</a:t>
            </a:r>
          </a:p>
          <a:p>
            <a:pPr algn="ctr"/>
            <a:r>
              <a:rPr lang="en-US" sz="1400" dirty="0"/>
              <a:t>Business</a:t>
            </a:r>
          </a:p>
          <a:p>
            <a:pPr algn="ctr"/>
            <a:r>
              <a:rPr lang="en-US" sz="1400" dirty="0"/>
              <a:t>Directories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0B8B03-0F0A-8EB8-7AA5-91D720D0379D}"/>
              </a:ext>
            </a:extLst>
          </p:cNvPr>
          <p:cNvSpPr/>
          <p:nvPr/>
        </p:nvSpPr>
        <p:spPr>
          <a:xfrm>
            <a:off x="4448813" y="2622311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Views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E54D40-83E8-F76F-3007-D9C9A52554EC}"/>
              </a:ext>
            </a:extLst>
          </p:cNvPr>
          <p:cNvSpPr/>
          <p:nvPr/>
        </p:nvSpPr>
        <p:spPr>
          <a:xfrm>
            <a:off x="4448813" y="3126404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Clicks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685F94-B6C3-C64E-C20B-B57911745274}"/>
              </a:ext>
            </a:extLst>
          </p:cNvPr>
          <p:cNvSpPr/>
          <p:nvPr/>
        </p:nvSpPr>
        <p:spPr>
          <a:xfrm>
            <a:off x="4448812" y="3630497"/>
            <a:ext cx="1209236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AI Engagements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C02578-84C3-DDBC-70B1-61F9C9BB2B42}"/>
              </a:ext>
            </a:extLst>
          </p:cNvPr>
          <p:cNvSpPr/>
          <p:nvPr/>
        </p:nvSpPr>
        <p:spPr>
          <a:xfrm>
            <a:off x="5749679" y="1110034"/>
            <a:ext cx="1066373" cy="135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623F79-6C08-EDF8-CE02-8D6B39E22750}"/>
              </a:ext>
            </a:extLst>
          </p:cNvPr>
          <p:cNvSpPr/>
          <p:nvPr/>
        </p:nvSpPr>
        <p:spPr>
          <a:xfrm>
            <a:off x="5761621" y="310661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Inbound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E96FA7-45B0-2A65-51E2-6B8B0B8816EE}"/>
              </a:ext>
            </a:extLst>
          </p:cNvPr>
          <p:cNvSpPr/>
          <p:nvPr/>
        </p:nvSpPr>
        <p:spPr>
          <a:xfrm>
            <a:off x="5761621" y="3610710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Outbound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746962E-B589-6CF0-56D3-55FD38E35238}"/>
              </a:ext>
            </a:extLst>
          </p:cNvPr>
          <p:cNvSpPr/>
          <p:nvPr/>
        </p:nvSpPr>
        <p:spPr>
          <a:xfrm>
            <a:off x="5761620" y="4114803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Confirmations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9F65DA-15D7-19D7-5B9C-FA469DF979AF}"/>
              </a:ext>
            </a:extLst>
          </p:cNvPr>
          <p:cNvSpPr/>
          <p:nvPr/>
        </p:nvSpPr>
        <p:spPr>
          <a:xfrm>
            <a:off x="5760702" y="4557376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Appointments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6C00498-EC60-61F7-04DC-56E76A70F63F}"/>
              </a:ext>
            </a:extLst>
          </p:cNvPr>
          <p:cNvSpPr/>
          <p:nvPr/>
        </p:nvSpPr>
        <p:spPr>
          <a:xfrm>
            <a:off x="3147945" y="4079628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Reminders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30E6856-E667-627B-0AC0-ADDC3D2D779E}"/>
              </a:ext>
            </a:extLst>
          </p:cNvPr>
          <p:cNvSpPr/>
          <p:nvPr/>
        </p:nvSpPr>
        <p:spPr>
          <a:xfrm>
            <a:off x="3147944" y="4545634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Tickets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E5BDCD8-3553-D5A6-6788-852D122CB8A0}"/>
              </a:ext>
            </a:extLst>
          </p:cNvPr>
          <p:cNvSpPr/>
          <p:nvPr/>
        </p:nvSpPr>
        <p:spPr>
          <a:xfrm>
            <a:off x="3147944" y="5041680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Ads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D58B13E-4F55-53FF-1A44-F8A56D3E12FB}"/>
              </a:ext>
            </a:extLst>
          </p:cNvPr>
          <p:cNvSpPr/>
          <p:nvPr/>
        </p:nvSpPr>
        <p:spPr>
          <a:xfrm>
            <a:off x="3147944" y="5553102"/>
            <a:ext cx="1183381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Outbound Ads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AEC562-FB96-D8D5-1116-DEA49D3A2292}"/>
              </a:ext>
            </a:extLst>
          </p:cNvPr>
          <p:cNvSpPr/>
          <p:nvPr/>
        </p:nvSpPr>
        <p:spPr>
          <a:xfrm>
            <a:off x="5760701" y="5005749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Service Calls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934618-5749-A9B9-2F10-B8CDA2CECB52}"/>
              </a:ext>
            </a:extLst>
          </p:cNvPr>
          <p:cNvSpPr/>
          <p:nvPr/>
        </p:nvSpPr>
        <p:spPr>
          <a:xfrm>
            <a:off x="5760700" y="547549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Proposals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72E4F8B-39FA-FD68-F95C-9680F30CF574}"/>
              </a:ext>
            </a:extLst>
          </p:cNvPr>
          <p:cNvSpPr/>
          <p:nvPr/>
        </p:nvSpPr>
        <p:spPr>
          <a:xfrm>
            <a:off x="5760700" y="5952415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Orders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D9F788-83B6-D5B7-77FE-CCEC6F11AC4E}"/>
              </a:ext>
            </a:extLst>
          </p:cNvPr>
          <p:cNvSpPr/>
          <p:nvPr/>
        </p:nvSpPr>
        <p:spPr>
          <a:xfrm>
            <a:off x="5760700" y="6456508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Shipments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5A4B69-04E7-7652-119B-7391BDF95476}"/>
              </a:ext>
            </a:extLst>
          </p:cNvPr>
          <p:cNvSpPr/>
          <p:nvPr/>
        </p:nvSpPr>
        <p:spPr>
          <a:xfrm>
            <a:off x="5751887" y="2619807"/>
            <a:ext cx="1066373" cy="39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Ad Engagement</a:t>
            </a:r>
          </a:p>
        </p:txBody>
      </p:sp>
    </p:spTree>
    <p:extLst>
      <p:ext uri="{BB962C8B-B14F-4D97-AF65-F5344CB8AC3E}">
        <p14:creationId xmlns:p14="http://schemas.microsoft.com/office/powerpoint/2010/main" val="285440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900F-CC0E-5853-31E1-362C00171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 Engagement AI’s Number one Weapon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D4135-ED75-9767-336C-C93D42B0C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if when you ran an ad, the ad would engage the customer?</a:t>
            </a:r>
          </a:p>
          <a:p>
            <a:r>
              <a:rPr lang="en-US" dirty="0"/>
              <a:t>What if when the ad engaged the customer, it had an objective? Appointment, Reservation, Service Call, Quote, Sale!</a:t>
            </a:r>
          </a:p>
          <a:p>
            <a:r>
              <a:rPr lang="en-US" dirty="0"/>
              <a:t>What if all you had to do was post the ad, and the AI (your ai) engaged the client?</a:t>
            </a:r>
          </a:p>
          <a:p>
            <a:r>
              <a:rPr lang="en-US" dirty="0"/>
              <a:t>What if when that happened the order and all transactions ended up in a CRM or order system?</a:t>
            </a:r>
          </a:p>
          <a:p>
            <a:r>
              <a:rPr lang="en-US" dirty="0"/>
              <a:t>What if an AI followed up on the initial engagement with email, phone calls, proposals, events???</a:t>
            </a:r>
          </a:p>
          <a:p>
            <a:r>
              <a:rPr lang="en-US" dirty="0"/>
              <a:t>Would that make an ad… more than just an ad???</a:t>
            </a:r>
          </a:p>
        </p:txBody>
      </p:sp>
    </p:spTree>
    <p:extLst>
      <p:ext uri="{BB962C8B-B14F-4D97-AF65-F5344CB8AC3E}">
        <p14:creationId xmlns:p14="http://schemas.microsoft.com/office/powerpoint/2010/main" val="3117278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460</Words>
  <Application>Microsoft Macintosh PowerPoint</Application>
  <PresentationFormat>Widescreen</PresentationFormat>
  <Paragraphs>209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 Engagement AI’s Number one Weapon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Shine</dc:creator>
  <cp:lastModifiedBy>John Shine</cp:lastModifiedBy>
  <cp:revision>3</cp:revision>
  <dcterms:created xsi:type="dcterms:W3CDTF">2025-12-30T20:12:57Z</dcterms:created>
  <dcterms:modified xsi:type="dcterms:W3CDTF">2025-12-31T04:04:07Z</dcterms:modified>
</cp:coreProperties>
</file>